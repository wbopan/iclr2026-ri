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9A92"/>
    <a:srgbClr val="E3C679"/>
    <a:srgbClr val="D77659"/>
    <a:srgbClr val="376664"/>
    <a:srgbClr val="AAAAAA"/>
    <a:srgbClr val="FF7F0E"/>
    <a:srgbClr val="FFFFFF"/>
    <a:srgbClr val="D627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51"/>
    <p:restoredTop sz="94695"/>
  </p:normalViewPr>
  <p:slideViewPr>
    <p:cSldViewPr snapToGrid="0">
      <p:cViewPr varScale="1">
        <p:scale>
          <a:sx n="73" d="100"/>
          <a:sy n="73" d="100"/>
        </p:scale>
        <p:origin x="216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9DD20-33B5-CF41-BBB8-0DFA6D367E98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33218C-3F29-4F4C-8B5F-03ED2ACD8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83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218C-3F29-4F4C-8B5F-03ED2ACD855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9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22A18-8460-DF63-B338-C5DC527F1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6E6705-A603-74F3-6171-3A943DCD5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5CFA4-BDC6-C1EA-C3AC-6F9ED5AE0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B911-AADD-034F-8902-8BE03DD67A5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1D107-7423-D830-3686-CC6E8753F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0551E-58E3-30D5-1A40-D1B5BD827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338C8-5BF8-D14F-8B39-008266E3A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42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A326E-2A76-902C-2FB0-205F0049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DCC39-E066-A0C8-D8C4-6C6A64C77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7C893-40C2-D969-4AD7-35DE0AB0C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B911-AADD-034F-8902-8BE03DD67A5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FBC41-D79E-15A9-C027-3C6F37314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B43C5-300B-9A93-8507-75823FD04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338C8-5BF8-D14F-8B39-008266E3A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36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E241C-B112-CEBC-953E-E68DA935E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1C4EE-4AD4-AF96-09B0-688311E36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9C870-CC91-9C1F-01D4-D7AFB7AAA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B911-AADD-034F-8902-8BE03DD67A5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72834-9ABD-807A-5659-A7CD48419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ECDD7-3339-C8E4-753F-82B76615D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338C8-5BF8-D14F-8B39-008266E3A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506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71637-0EC4-66E8-3158-80E2E85A5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63FFB-29D2-B1E3-B03F-1B13E16A3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7DA0DD-0382-E5DF-12E5-2A4FB56DC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D6F90-1149-9807-ABD6-4F1B9F146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B911-AADD-034F-8902-8BE03DD67A5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1FC9B-26E3-9729-FB9A-A9ACEBB75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02C64-675B-2C09-C70F-626F4F5DA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338C8-5BF8-D14F-8B39-008266E3A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92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2CD67-68FB-601A-F88A-D030BDA7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F4292-C93D-6749-6BEE-6D7E1C196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7AE3FF-2CE5-A876-8637-D15F04B9D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BE6BA0-5265-DED2-05AF-D359EE6CBD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FAE581-FD1F-299D-BC51-B1D7595C8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FB81D-5114-0901-A2A1-6EA1A59D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B911-AADD-034F-8902-8BE03DD67A5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AEF051-3AE6-5786-144D-A55BACAFB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046372-2733-3F4B-ABE1-EF94AEAE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338C8-5BF8-D14F-8B39-008266E3A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17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6798A-AE8B-64B1-30AE-CA3615FC4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4648FE-A171-C599-D5D2-2B36C3165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B911-AADD-034F-8902-8BE03DD67A5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4B5E10-8E5C-F3E6-3684-2C8C6E337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6E787B-831F-24B0-5399-B18EB6B38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338C8-5BF8-D14F-8B39-008266E3A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300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B19AAB-9CDC-EAAB-52F5-45F0E7345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B911-AADD-034F-8902-8BE03DD67A5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77F3F6-2A87-FBBE-7301-111758271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21FFC-C8EB-9FD7-4E35-90633F1D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338C8-5BF8-D14F-8B39-008266E3A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65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837E5-177D-ECD3-7454-FFB5E13FC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B079A-FC1F-6908-9C12-82B3D912A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DCC63-B129-8125-9D67-34F48A29B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0A532-49DA-D8CC-E01E-F2261A5A8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B911-AADD-034F-8902-8BE03DD67A5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1D11D-B15F-C8B9-E7C3-700B305E0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2F692-6178-5112-6DDD-6ABA5D4F4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338C8-5BF8-D14F-8B39-008266E3A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416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F86D-7B73-F10C-DFFE-BF8068F9E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7229B2-2AF3-752A-D1D0-BD35D6B0D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F040D-2960-F2D9-ED07-7C4505F1B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2DE52-D943-F894-44CF-344E715BF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B911-AADD-034F-8902-8BE03DD67A5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6A8A2-7F18-0F4D-2C4E-EA90C15F5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D1414-C6E3-A619-FE0B-1865767A1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338C8-5BF8-D14F-8B39-008266E3A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846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EA8CC-CBEC-8E01-09B9-D1FF5A738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DC020-15CF-1A6B-6995-675D0F367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DAB87-6D26-BF70-840B-70C1B4DCA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B911-AADD-034F-8902-8BE03DD67A5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09093-EDA9-6E81-24C2-84EFDA371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EFBCE-70A4-F6EF-9CDF-FFF23D8F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338C8-5BF8-D14F-8B39-008266E3A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757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3C3D19-81A3-44B7-AEDC-1B1347968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68B32-2864-3601-04FE-2E1F4417D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8569F-D318-78E7-DCAD-B097D61AD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B911-AADD-034F-8902-8BE03DD67A5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5E902-F9F6-D46F-8579-53E4B8229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5ACB5-CFA9-5710-D61F-5B19893C9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338C8-5BF8-D14F-8B39-008266E3A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74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4F5196-98B9-47DD-5C39-DCC362137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5E615-2167-0160-AF74-8350B376C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214A5-2524-6E46-1C4A-AA0D63CA38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1EB911-AADD-034F-8902-8BE03DD67A51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D304E-420A-8D6E-D3F3-573D9A642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68F9E-A013-16C5-00A4-99B591C5E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7338C8-5BF8-D14F-8B39-008266E3A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280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B937CCF-CDFF-38E0-606F-9C29830421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12139" y="2292927"/>
            <a:ext cx="2743200" cy="2743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A85B47-1381-24D8-62FB-FEE5840CD2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86500" y="2292927"/>
            <a:ext cx="2743200" cy="2743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A375A52-0FD1-3217-4287-038055460C33}"/>
              </a:ext>
            </a:extLst>
          </p:cNvPr>
          <p:cNvSpPr txBox="1"/>
          <p:nvPr/>
        </p:nvSpPr>
        <p:spPr>
          <a:xfrm>
            <a:off x="4837609" y="2519783"/>
            <a:ext cx="13166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376664"/>
                </a:solidFill>
                <a:latin typeface="Libertinus Sans" pitchFamily="2" charset="0"/>
                <a:ea typeface="Libertinus Sans" pitchFamily="2" charset="0"/>
                <a:cs typeface="Libertinus Sans" pitchFamily="2" charset="0"/>
              </a:rPr>
              <a:t>RI</a:t>
            </a:r>
            <a:r>
              <a:rPr lang="zh-CN" altLang="en-US" sz="1100" b="1" dirty="0">
                <a:solidFill>
                  <a:srgbClr val="376664"/>
                </a:solidFill>
                <a:latin typeface="Libertinus Sans" pitchFamily="2" charset="0"/>
                <a:cs typeface="Libertinus Sans" pitchFamily="2" charset="0"/>
              </a:rPr>
              <a:t> </a:t>
            </a:r>
            <a:r>
              <a:rPr lang="en-US" altLang="zh-CN" sz="1100" b="1" dirty="0">
                <a:solidFill>
                  <a:srgbClr val="376664"/>
                </a:solidFill>
                <a:latin typeface="Libertinus Sans" pitchFamily="2" charset="0"/>
                <a:ea typeface="Libertinus Sans" pitchFamily="2" charset="0"/>
                <a:cs typeface="Libertinus Sans" pitchFamily="2" charset="0"/>
              </a:rPr>
              <a:t>=</a:t>
            </a:r>
            <a:r>
              <a:rPr lang="zh-CN" altLang="en-US" sz="1100" b="1" dirty="0">
                <a:solidFill>
                  <a:srgbClr val="376664"/>
                </a:solidFill>
                <a:latin typeface="Libertinus Sans" pitchFamily="2" charset="0"/>
                <a:cs typeface="Libertinus Sans" pitchFamily="2" charset="0"/>
              </a:rPr>
              <a:t> </a:t>
            </a:r>
            <a:r>
              <a:rPr lang="en-US" altLang="zh-CN" sz="1100" b="1" dirty="0">
                <a:solidFill>
                  <a:srgbClr val="376664"/>
                </a:solidFill>
                <a:latin typeface="Libertinus Sans" pitchFamily="2" charset="0"/>
                <a:ea typeface="Libertinus Sans" pitchFamily="2" charset="0"/>
                <a:cs typeface="Libertinus Sans" pitchFamily="2" charset="0"/>
              </a:rPr>
              <a:t>1:</a:t>
            </a:r>
            <a:r>
              <a:rPr lang="zh-CN" altLang="en-US" sz="1100" b="1" dirty="0">
                <a:solidFill>
                  <a:srgbClr val="376664"/>
                </a:solidFill>
                <a:latin typeface="Libertinus Sans" pitchFamily="2" charset="0"/>
                <a:cs typeface="Libertinus Sans" pitchFamily="2" charset="0"/>
              </a:rPr>
              <a:t> </a:t>
            </a:r>
            <a:r>
              <a:rPr lang="en-US" sz="1100" b="1" dirty="0">
                <a:solidFill>
                  <a:srgbClr val="376664"/>
                </a:solidFill>
                <a:latin typeface="Libertinus Sans" pitchFamily="2" charset="0"/>
                <a:ea typeface="Libertinus Sans" pitchFamily="2" charset="0"/>
                <a:cs typeface="Libertinus Sans" pitchFamily="2" charset="0"/>
              </a:rPr>
              <a:t>Perfect refusal decision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0F3425-0194-ECBB-94FE-6980A1BEA7E4}"/>
              </a:ext>
            </a:extLst>
          </p:cNvPr>
          <p:cNvSpPr txBox="1"/>
          <p:nvPr/>
        </p:nvSpPr>
        <p:spPr>
          <a:xfrm>
            <a:off x="4829700" y="3945875"/>
            <a:ext cx="15428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D77659"/>
                </a:solidFill>
                <a:latin typeface="Libertinus Sans" pitchFamily="2" charset="0"/>
                <a:ea typeface="Libertinus Sans" pitchFamily="2" charset="0"/>
                <a:cs typeface="Libertinus Sans" pitchFamily="2" charset="0"/>
              </a:rPr>
              <a:t>RI</a:t>
            </a:r>
            <a:r>
              <a:rPr lang="zh-CN" altLang="en-US" sz="1100" b="1" dirty="0">
                <a:solidFill>
                  <a:srgbClr val="D77659"/>
                </a:solidFill>
                <a:latin typeface="Libertinus Sans" pitchFamily="2" charset="0"/>
                <a:cs typeface="Libertinus Sans" pitchFamily="2" charset="0"/>
              </a:rPr>
              <a:t> </a:t>
            </a:r>
            <a:r>
              <a:rPr lang="en-US" altLang="zh-CN" sz="1100" b="1" dirty="0">
                <a:solidFill>
                  <a:srgbClr val="D77659"/>
                </a:solidFill>
                <a:latin typeface="Libertinus Sans" pitchFamily="2" charset="0"/>
                <a:ea typeface="Libertinus Sans" pitchFamily="2" charset="0"/>
                <a:cs typeface="Libertinus Sans" pitchFamily="2" charset="0"/>
              </a:rPr>
              <a:t>=</a:t>
            </a:r>
            <a:r>
              <a:rPr lang="zh-CN" altLang="en-US" sz="1100" b="1" dirty="0">
                <a:solidFill>
                  <a:srgbClr val="D77659"/>
                </a:solidFill>
                <a:latin typeface="Libertinus Sans" pitchFamily="2" charset="0"/>
                <a:cs typeface="Libertinus Sans" pitchFamily="2" charset="0"/>
              </a:rPr>
              <a:t> </a:t>
            </a:r>
            <a:r>
              <a:rPr lang="en-US" altLang="zh-CN" sz="1100" b="1" dirty="0">
                <a:solidFill>
                  <a:srgbClr val="D77659"/>
                </a:solidFill>
                <a:latin typeface="Libertinus Sans" pitchFamily="2" charset="0"/>
                <a:ea typeface="Libertinus Sans" pitchFamily="2" charset="0"/>
                <a:cs typeface="Libertinus Sans" pitchFamily="2" charset="0"/>
              </a:rPr>
              <a:t>0: </a:t>
            </a:r>
            <a:r>
              <a:rPr lang="en-US" sz="1100" b="1" dirty="0">
                <a:solidFill>
                  <a:srgbClr val="D77659"/>
                </a:solidFill>
                <a:latin typeface="Libertinus Sans" pitchFamily="2" charset="0"/>
                <a:ea typeface="Libertinus Sans" pitchFamily="2" charset="0"/>
                <a:cs typeface="Libertinus Sans" pitchFamily="2" charset="0"/>
              </a:rPr>
              <a:t>Random</a:t>
            </a:r>
            <a:r>
              <a:rPr lang="zh-CN" altLang="en-US" sz="1100" b="1" dirty="0">
                <a:solidFill>
                  <a:srgbClr val="D77659"/>
                </a:solidFill>
                <a:latin typeface="Libertinus Sans" pitchFamily="2" charset="0"/>
                <a:cs typeface="Libertinus Sans" pitchFamily="2" charset="0"/>
              </a:rPr>
              <a:t> </a:t>
            </a:r>
            <a:r>
              <a:rPr lang="en-US" altLang="zh-CN" sz="1100" b="1" dirty="0">
                <a:solidFill>
                  <a:srgbClr val="D77659"/>
                </a:solidFill>
                <a:latin typeface="Libertinus Sans" pitchFamily="2" charset="0"/>
                <a:ea typeface="Libertinus Sans" pitchFamily="2" charset="0"/>
                <a:cs typeface="Libertinus Sans" pitchFamily="2" charset="0"/>
              </a:rPr>
              <a:t>refusal</a:t>
            </a:r>
            <a:r>
              <a:rPr lang="zh-CN" altLang="en-US" sz="1100" b="1" dirty="0">
                <a:solidFill>
                  <a:srgbClr val="D77659"/>
                </a:solidFill>
                <a:latin typeface="Libertinus Sans" pitchFamily="2" charset="0"/>
                <a:cs typeface="Libertinus Sans" pitchFamily="2" charset="0"/>
              </a:rPr>
              <a:t> </a:t>
            </a:r>
            <a:r>
              <a:rPr lang="en-US" altLang="zh-CN" sz="1100" b="1" dirty="0">
                <a:solidFill>
                  <a:srgbClr val="D77659"/>
                </a:solidFill>
                <a:latin typeface="Libertinus Sans" pitchFamily="2" charset="0"/>
                <a:ea typeface="Libertinus Sans" pitchFamily="2" charset="0"/>
                <a:cs typeface="Libertinus Sans" pitchFamily="2" charset="0"/>
              </a:rPr>
              <a:t>decision</a:t>
            </a:r>
            <a:endParaRPr lang="en-US" sz="1100" b="1" dirty="0">
              <a:solidFill>
                <a:srgbClr val="D77659"/>
              </a:solidFill>
              <a:latin typeface="Libertinus Sans" pitchFamily="2" charset="0"/>
              <a:ea typeface="Libertinus Sans" pitchFamily="2" charset="0"/>
              <a:cs typeface="Libertinus Sans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69FAE4B-3C02-E1AB-BDF8-4AED3D210563}"/>
              </a:ext>
            </a:extLst>
          </p:cNvPr>
          <p:cNvCxnSpPr>
            <a:cxnSpLocks/>
          </p:cNvCxnSpPr>
          <p:nvPr/>
        </p:nvCxnSpPr>
        <p:spPr>
          <a:xfrm flipV="1">
            <a:off x="3664300" y="2887122"/>
            <a:ext cx="249170" cy="276345"/>
          </a:xfrm>
          <a:prstGeom prst="straightConnector1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47625F1-1EEF-4D7A-DD6D-4D6E9B8A27D7}"/>
              </a:ext>
            </a:extLst>
          </p:cNvPr>
          <p:cNvCxnSpPr>
            <a:cxnSpLocks/>
          </p:cNvCxnSpPr>
          <p:nvPr/>
        </p:nvCxnSpPr>
        <p:spPr>
          <a:xfrm>
            <a:off x="4075289" y="4063902"/>
            <a:ext cx="754411" cy="0"/>
          </a:xfrm>
          <a:prstGeom prst="line">
            <a:avLst/>
          </a:prstGeom>
          <a:ln w="25400">
            <a:solidFill>
              <a:srgbClr val="D776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A3AF562-965D-5BC1-89C7-66AE6441DD3D}"/>
              </a:ext>
            </a:extLst>
          </p:cNvPr>
          <p:cNvCxnSpPr>
            <a:cxnSpLocks/>
          </p:cNvCxnSpPr>
          <p:nvPr/>
        </p:nvCxnSpPr>
        <p:spPr>
          <a:xfrm>
            <a:off x="3788885" y="2684361"/>
            <a:ext cx="1040815" cy="0"/>
          </a:xfrm>
          <a:prstGeom prst="line">
            <a:avLst/>
          </a:prstGeom>
          <a:ln w="25400">
            <a:solidFill>
              <a:srgbClr val="4F9A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0A596CF-0056-06B2-041F-5B749A98B93A}"/>
              </a:ext>
            </a:extLst>
          </p:cNvPr>
          <p:cNvSpPr txBox="1"/>
          <p:nvPr/>
        </p:nvSpPr>
        <p:spPr>
          <a:xfrm>
            <a:off x="4816729" y="3273587"/>
            <a:ext cx="15906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Libertinus Sans" pitchFamily="2" charset="0"/>
                <a:ea typeface="Libertinus Sans" pitchFamily="2" charset="0"/>
                <a:cs typeface="Libertinus Sans" pitchFamily="2" charset="0"/>
              </a:rPr>
              <a:t>Quantify ability of proper refusing</a:t>
            </a:r>
            <a:endParaRPr lang="en-US" sz="1100" dirty="0">
              <a:latin typeface="Libertinus Sans" pitchFamily="2" charset="0"/>
              <a:ea typeface="Libertinus Sans" pitchFamily="2" charset="0"/>
              <a:cs typeface="Libertinus Sans" pitchFamily="2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C0BEA84-BDF3-4144-4EB1-3F51C0199AE9}"/>
              </a:ext>
            </a:extLst>
          </p:cNvPr>
          <p:cNvCxnSpPr>
            <a:cxnSpLocks/>
          </p:cNvCxnSpPr>
          <p:nvPr/>
        </p:nvCxnSpPr>
        <p:spPr>
          <a:xfrm>
            <a:off x="3759027" y="3385931"/>
            <a:ext cx="1064141" cy="0"/>
          </a:xfrm>
          <a:prstGeom prst="line">
            <a:avLst/>
          </a:prstGeom>
          <a:ln w="2540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75675C4-AA19-0EB1-3676-7A4EA60C92BF}"/>
              </a:ext>
            </a:extLst>
          </p:cNvPr>
          <p:cNvSpPr txBox="1"/>
          <p:nvPr/>
        </p:nvSpPr>
        <p:spPr>
          <a:xfrm>
            <a:off x="8066300" y="2515523"/>
            <a:ext cx="131669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Libertinus Sans" pitchFamily="2" charset="0"/>
                <a:ea typeface="Libertinus Sans" pitchFamily="2" charset="0"/>
                <a:cs typeface="Libertinus Sans" pitchFamily="2" charset="0"/>
              </a:rPr>
              <a:t>RI is consistent across different refusal rates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FDC5236-BC9E-5123-62C8-00C01A9D42E9}"/>
              </a:ext>
            </a:extLst>
          </p:cNvPr>
          <p:cNvCxnSpPr>
            <a:cxnSpLocks/>
          </p:cNvCxnSpPr>
          <p:nvPr/>
        </p:nvCxnSpPr>
        <p:spPr>
          <a:xfrm flipV="1">
            <a:off x="7749108" y="2649453"/>
            <a:ext cx="317192" cy="322217"/>
          </a:xfrm>
          <a:prstGeom prst="line">
            <a:avLst/>
          </a:prstGeom>
          <a:ln w="25400">
            <a:solidFill>
              <a:srgbClr val="E3C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8828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3117</TotalTime>
  <Words>27</Words>
  <Application>Microsoft Macintosh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Libertinus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a4861</dc:creator>
  <cp:lastModifiedBy>a4861</cp:lastModifiedBy>
  <cp:revision>6</cp:revision>
  <dcterms:created xsi:type="dcterms:W3CDTF">2025-09-13T09:51:26Z</dcterms:created>
  <dcterms:modified xsi:type="dcterms:W3CDTF">2025-09-24T09:54:48Z</dcterms:modified>
</cp:coreProperties>
</file>